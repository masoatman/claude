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1F33"/>
                </a:solidFill>
                <a:latin typeface="Cambria"/>
              </a:rPr>
              <a:t>BlackRock total AUM ($ trillions)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BlackRock AUM ($T)</c:v>
                </c:pt>
              </c:strCache>
            </c:strRef>
          </c:tx>
          <c:spPr>
            <a:solidFill>
              <a:srgbClr val="0B1F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Q2 2025</c:v>
                  </c:pt>
                  <c:pt idx="1">
                    <c:v>Q1 2026</c:v>
                  </c:pt>
                  <c:pt idx="2">
                    <c:v>Q2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12.53</c:v>
                </c:pt>
                <c:pt idx="1">
                  <c:v>13.89</c:v>
                </c:pt>
                <c:pt idx="2">
                  <c:v>15.34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D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1F33"/>
                </a:solidFill>
                <a:latin typeface="Cambria"/>
              </a:rPr>
              <a:t>ETF net inflows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ETF net inflows ($B)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 2026</c:v>
                  </c:pt>
                  <c:pt idx="1">
                    <c:v>Q2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132</c:v>
                </c:pt>
                <c:pt idx="1">
                  <c:v>178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1F33"/>
                </a:solidFill>
                <a:latin typeface="Cambria"/>
              </a:rPr>
              <a:t>Expense ratio (%): EFA vs IEFA · EEM vs IEMG · IWM vs IJR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/ Precision</c:v>
                </c:pt>
              </c:strCache>
            </c:strRef>
          </c:tx>
          <c:spPr>
            <a:solidFill>
              <a:srgbClr val="0B1F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Developed ex-US</c:v>
                  </c:pt>
                  <c:pt idx="1">
                    <c:v>Emerging markets</c:v>
                  </c:pt>
                  <c:pt idx="2">
                    <c:v>US small cap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0.32</c:v>
                </c:pt>
                <c:pt idx="1">
                  <c:v>0.7</c:v>
                </c:pt>
                <c:pt idx="2">
                  <c:v>0.19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Core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Developed ex-US</c:v>
                  </c:pt>
                  <c:pt idx="1">
                    <c:v>Emerging markets</c:v>
                  </c:pt>
                  <c:pt idx="2">
                    <c:v>US small cap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0.07</c:v>
                </c:pt>
                <c:pt idx="1">
                  <c:v>0.09</c:v>
                </c:pt>
                <c:pt idx="2">
                  <c:v>0.06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D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1F33"/>
                </a:solidFill>
                <a:latin typeface="Cambria"/>
              </a:rPr>
              <a:t>S&amp;P 500 ETF AUM, Sep 2026 ($B)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($B)</c:v>
                </c:pt>
              </c:strCache>
            </c:strRef>
          </c:tx>
          <c:spPr>
            <a:solidFill>
              <a:srgbClr val="5E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6B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C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6B7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VOO (Vanguard)</c:v>
                  </c:pt>
                  <c:pt idx="1">
                    <c:v>IVV (iShares)</c:v>
                  </c:pt>
                  <c:pt idx="2">
                    <c:v>SPY (SPDR)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818</c:v>
                </c:pt>
                <c:pt idx="2">
                  <c:v>777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b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3"/>
              </a:solidFill>
              <a:effectLst/>
            </c:spPr>
          </c:dPt>
          <c:dPt>
            <c:idx val="1"/>
            <c:bubble3D val="0"/>
            <c:spPr>
              <a:solidFill>
                <a:srgbClr val="16324F"/>
              </a:solidFill>
              <a:effectLst/>
            </c:spPr>
          </c:dPt>
          <c:dPt>
            <c:idx val="2"/>
            <c:bubble3D val="0"/>
            <c:spPr>
              <a:solidFill>
                <a:srgbClr val="3C5A78"/>
              </a:solidFill>
              <a:effectLst/>
            </c:spPr>
          </c:dPt>
          <c:dPt>
            <c:idx val="3"/>
            <c:bubble3D val="0"/>
            <c:spPr>
              <a:solidFill>
                <a:srgbClr val="6F8BA6"/>
              </a:solidFill>
              <a:effectLst/>
            </c:spPr>
          </c:dPt>
          <c:dPt>
            <c:idx val="4"/>
            <c:bubble3D val="0"/>
            <c:spPr>
              <a:solidFill>
                <a:srgbClr val="0E8C8C"/>
              </a:solidFill>
              <a:effectLst/>
            </c:spPr>
          </c:dPt>
          <c:dPt>
            <c:idx val="5"/>
            <c:bubble3D val="0"/>
            <c:spPr>
              <a:solidFill>
                <a:srgbClr val="4DB3B3"/>
              </a:solidFill>
              <a:effectLst/>
            </c:spPr>
          </c:dPt>
          <c:dPt>
            <c:idx val="6"/>
            <c:bubble3D val="0"/>
            <c:spPr>
              <a:solidFill>
                <a:srgbClr val="9ED3D3"/>
              </a:solidFill>
              <a:effectLst/>
            </c:spPr>
          </c:dPt>
          <c:dPt>
            <c:idx val="7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IVV</c:v>
                </c:pt>
                <c:pt idx="1">
                  <c:v>IEFA</c:v>
                </c:pt>
                <c:pt idx="2">
                  <c:v>IEMG</c:v>
                </c:pt>
                <c:pt idx="3">
                  <c:v>IJR</c:v>
                </c:pt>
                <c:pt idx="4">
                  <c:v>AGG</c:v>
                </c:pt>
                <c:pt idx="5">
                  <c:v>TIP</c:v>
                </c:pt>
                <c:pt idx="6">
                  <c:v>SGOV</c:v>
                </c:pt>
                <c:pt idx="7">
                  <c:v>IAU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36</c:v>
                </c:pt>
                <c:pt idx="1">
                  <c:v>14</c:v>
                </c:pt>
                <c:pt idx="2">
                  <c:v>6</c:v>
                </c:pt>
                <c:pt idx="3">
                  <c:v>4</c:v>
                </c:pt>
                <c:pt idx="4">
                  <c:v>25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built from BlackRock Q1/Q2 2026 results coverage, iShares H1 2026 flows commentary, and ETF data aggregators (Sep 2026). Fund-level AUM figures are approximate and should be verified before external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iShares ETFs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108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research: franchise economics, product architecture, competitive position and portfolio use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equity &amp; fund research  |  September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analysis. Not produced by or affiliated with BlackRock or iShares. Not investment advice.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toll road of passive investing is still widening, but no longer uncontested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$6T+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global AUM, crossed in Q2 2026, roughly doubling in three years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89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$178B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ETF net inflows in Q2 2026 alone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6941" y="194950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937760" y="1783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compounding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216712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flows (Q1 $132B, Q2 $178B) and market beta lifted BlackRock AUM to $15.3T; iShares is the engine.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06240" y="2926080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41" y="30467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37760" y="2880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pricing works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326440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funds at 3–9 bps win allocators; legacy 'Precision' funds keep premium fees because traders pay for liquidity.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206240" y="4023360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41" y="41440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37760" y="3977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pressure is real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937760" y="436168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has overtaken iShares in US ETF assets; VOO ($1T) now outsizes IVV ($818B).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206240" y="5120640"/>
            <a:ext cx="548640" cy="54864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941" y="52413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937760" y="5074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legs: fixed income, active, digital, international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4937760" y="545896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ETFs, active ETFs (&gt;$70B 12-month flows), IBIT, and a $1.5T European UCITS franchise diversify growth.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Markets Media; CNBC (Apr 14, 2026); Investing.com Q2 2026 slides; ETFdb.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franchise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is the largest single profit pool inside the world's largest asset manager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D5EEEE"/>
          </a:solidFill>
          <a:ln w="12700">
            <a:solidFill>
              <a:srgbClr val="D5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$15.34T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total AUM, Q2 2026 (vs $12.53T a year earlier)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D5EEEE"/>
          </a:solidFill>
          <a:ln w="12700">
            <a:solidFill>
              <a:srgbClr val="D5E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011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$6T+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ETF AUM globally, Q2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D5EEEE"/>
          </a:solidFill>
          <a:ln w="12700">
            <a:solidFill>
              <a:srgbClr val="D5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011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$1.5T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 Europe AUM; ~$80B raised YTD by mid-2026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$100B+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20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domiciled iShares AUM in Asia Pacific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40233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251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45.9%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120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operating margin peak cited in Q2 2026 results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2519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120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rate cited for ETFs, Q2 2026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Global Business Outlook; Markets Media; Investing.com Q2 2026 slides. Figures as reported in press coverage of BlackRock results.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trajectory: flows plus beta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AUM grew ~22% year on year; ETF inflows accelerated quarter over quarter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645920"/>
          <a:ext cx="3108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9692640" y="1737360"/>
            <a:ext cx="1965960" cy="4297680"/>
          </a:xfrm>
          <a:prstGeom prst="roundRect">
            <a:avLst>
              <a:gd name="adj" fmla="val 558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875520" y="1874520"/>
            <a:ext cx="1645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Read-across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acceleration during a rising market is the best case for a fee-on-AUM model: revenue scales with both.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side: much of the AUM gain is market beta, which reverses in a drawdown.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Global Business Outlook; BigGo Finance (Q1 2026 call); Investing.com Q2 2026 slides.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architecture: four engines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shelf built to serve every buyer, from retail savers to hedge-fund traders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1524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5146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building blocks for long-term allocators and model portfolios.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IVV · IEFA · IEMG · IJH · IJR · AGG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737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215249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/ tactical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25146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Deep-liquidity legacy funds used by institutions to trade, hedge and lend.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 · EEM · IWM · sector &amp; country funds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443849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income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8006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 in bond ETFs, including defined-maturity iBonds.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645920" y="5486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· LQD · HYG · TLT · TIP · SGOV · iBonds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72200" y="402336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429768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443849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69480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Active, thematic &amp; digital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269480" y="48006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growth vectors with higher fees per dollar.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269480" y="5486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IBIT · ETHA · active ETFs · factor (QUAL, USMV)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 are illustrative members of each segment, not a complete list.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funds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tickers carry a large share of US-listed iShares assets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1920240"/>
                <a:gridCol w="1645920"/>
                <a:gridCol w="3047695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a portfolio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S&amp;P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large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US equity; ~$818B AUM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MSCI EAFE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Developed ex-US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international; ~$191B AUM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MSCI Emerging Markets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equity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EM sleeve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US Aggregate Bond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IG bonds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fixed income ballast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IJH / IJR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S&amp;P Mid-Cap / Small-Cap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mid &amp; 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 / 0.06%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diversification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IWF / IWM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Russell 1000 Growth / Russell 2000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&amp; small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 / 0.19%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Tactical tilts, hedging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LQD / HYG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iBoxx IG / HY Corporate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 / 0.49%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 credit beta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 Year Treasury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hedge, duration bets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Month Treasury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T-bills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Trust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bitcoin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asset exposure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ratios per fund prospectuses (verify current figures on ishares.com). AUM: IVV and IEFA per FinanceCharts, Sep 18, 2026; other AUM figures omitted where sources conflicted.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strategy: the two-tier playbook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exposure, very different price, because the buyers pay for different things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69080" cy="13716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84708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legacy funds keep their fees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21284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spreads, deep options markets and securities lending make EFA, EEM and IWM the tools traders use. Liquidity is the product; the fee is secondary.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3246120"/>
            <a:ext cx="4069080" cy="13716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3355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Core undercuts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72160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was launched to defend share against Vanguard and Schwab among advisors and retail buyers, who compare funds on expense ratio.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4754880"/>
            <a:ext cx="4069080" cy="13716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48646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analyst's take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23036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discrimination protects revenue per dollar of AUM while still winning the low-cost buyer. Watch the mix shift toward Core.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ratios per fund prospectuses; IWM (Russell 2000) and IJR (S&amp;P 600) track different small-cap indices. EEM shown at ~0.70%.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has taken the US crown; iShares keeps its lead in breadth, bonds and global reach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737360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562" y="184800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03720" y="16916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903720" y="20208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widest shelf in the industry across asset classes and regions.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217920" y="2633472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562" y="2744114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03720" y="25877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ETF leadership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903720" y="29169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scale in fixed-income ETFs and the defined-maturity iBonds range.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3529584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562" y="3640226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34838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liquidity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6903720" y="38130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use EFA, EEM, IWM, HYG and LQD to hedge and express views.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217920" y="4425696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562" y="4536338"/>
            <a:ext cx="281635" cy="28163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03720" y="43799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distribution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6903720" y="4709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$1.5T in Europe, where iShares leads UCITS ETFs; $100B+ in APAC.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17920" y="5321808"/>
            <a:ext cx="502920" cy="50292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562" y="5432450"/>
            <a:ext cx="281635" cy="28163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03720" y="52760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Aladdin &amp; models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6903720" y="56052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portfolios and tech distribution put iShares funds on the default path.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ETFdb / ETF Trends ('Vanguard Overtakes iShares'); Markets Media; FinanceCharts (Sep 2026).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next $6T comes from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growth vectors, ranked by our conviction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income ETFs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7373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are still mostly held and traded outside ETFs. Portfolio trading and model portfolios keep moving bond exposure into ETF wrappers.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0" y="1920240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D5EEEE"/>
          </a:solidFill>
          <a:ln w="12700">
            <a:solidFill>
              <a:srgbClr val="D5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0" y="1920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685800" cy="68580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443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98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/ UCITS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5292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ETF adoption lags the US by years; $80B raised YTD on a $1.5T base is roughly 11% annualised organic growth.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0" y="3035808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D5EEEE"/>
          </a:solidFill>
          <a:ln w="12700">
            <a:solidFill>
              <a:srgbClr val="D5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0" y="3035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685800" cy="68580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599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1421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ETFs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968496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$70B of net inflows in 12 months, with BlackRock leading industry active flows in 2026. Higher fees help revenue mix.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0" y="4151376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0" y="41513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75504"/>
            <a:ext cx="685800" cy="68580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1755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12978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assets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5084064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IBIT became the dominant spot bitcoin ETF after its 2024 launch. Fees are high, but flows follow crypto sentiment.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0" y="5266944"/>
            <a:ext cx="1600200" cy="548640"/>
          </a:xfrm>
          <a:prstGeom prst="roundRect">
            <a:avLst>
              <a:gd name="adj" fmla="val 20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0" y="526694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Markets Media; ETF Express (Apr 2026); iShares H1 2026 ETF market trends. Conviction ranking is analyst judgement.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break the compounding story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compression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585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funds already sit at 3–9 bps. Another price war would compress revenue faster than AUM grows.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1874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share loss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2585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leads US ETF AUM and VOO has pulled ahead of IVV. Structural share drift is hard to reverse.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3337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3337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216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AUM, and so revenue, falls with markets. A 20% equity drawdown hits fees immediately.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33375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32720" y="3337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ETF stress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7216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crisis, bond ETFs can trade at discounts to NAV (as in March 2020), inviting regulatory scrutiny.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800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4800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754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&amp; reputation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184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IBIT's size links flows and headlines to bitcoin volatility.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32720" y="4800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32720" y="4800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4754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/ ESG scrutiny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184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 and ESG positions have drawn pushback from US states and European regulators.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ratings are analyst judgement.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 work: an all-iShares 60/40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diversified core portfolio for about 6 bps a year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4937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737360"/>
          <a:ext cx="5806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914400"/>
                <a:gridCol w="1143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equity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IVV 36% · IJR 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0.03–0.06%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equity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IEFA 14% · IEMG 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0.07–0.09%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bonds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 hedge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/ T-bills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SGOV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asset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IAU (gold)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≈0.06%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EE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852160" y="521208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only: not a recommendation. Rebalance annually or at ±5% drift. Swap IVV for a lower-turnover total-market fund if you want to capture small caps more fully.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fee = weighted average of prospectus expense ratios (≈6.2 bps). Excludes trading costs and taxes.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verdict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product shelf: best-in-class. As a franchise: dominant, but no longer uncontested.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liquidity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4688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FD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(Core range)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FD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&amp; innovation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840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FD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share momentum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5262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B−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resilience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52120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15968" y="178308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4568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Signposts to watch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46888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US ETF share against Vanguard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versus Precision revenue mix and average fee rate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 and active ETF flow share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UCITS organic growth (above 10%?)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IBIT flows through a crypto drawdown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83296" y="178308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11896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change our view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11896" y="246888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fee cut on Core funds below 3 bps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quarters of net US ETF outflows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bond ETF liquidity event that prompts regulation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1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Europe leadership to a low-cost entrant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are analyst judgement. Not investment advice.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949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Media: "BlackRock iShares Surpasses $6 Trillion in Assets" (2026)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CNBC: "BlackRock quarterly profit rises on active ETFs and performance fees" (Apr 14, 2026)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Investing.com: "BlackRock Q2 2026 slides: record flows drive 45.9% margin peak"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Business Outlook: "BlackRock assets hit record USD 15 trillion amid strong ETF inflows"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Express: "iShares by BlackRock reports record net inflows in Q1" (Apr 14, 2026)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BigGo Finance: BlackRock Q1 2026 earnings call coverage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ETFdb / ETF Trends: "Vanguard Overtakes iShares as Largest ETF Provider"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FinanceCharts: Top iShares ETFs / Biggest ETFs (data as of Sep 18, 2026)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iShares: "H1 2026 ETF &amp; ETP Market Trends"; fund prospectuses for expense ratios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94760" cy="4663440"/>
          </a:xfrm>
          <a:prstGeom prst="roundRect">
            <a:avLst>
              <a:gd name="adj" fmla="val 289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54480"/>
            <a:ext cx="3383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caveats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from press coverage of BlackRock results and third-party ETF data as of September 2026. They were not independently audited.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AUM changes daily; confirm on ishares.com before use.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research, not affiliated with BlackRock. Not investment advice.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iShares ETFs: Deep Research</dc:title>
  <dc:subject>PptxGenJS Presentation</dc:subject>
  <dc:creator>PptxGenJS</dc:creator>
  <cp:lastModifiedBy>PptxGenJS</cp:lastModifiedBy>
  <cp:revision>1</cp:revision>
  <dcterms:created xsi:type="dcterms:W3CDTF">2026-09-26T05:33:24Z</dcterms:created>
  <dcterms:modified xsi:type="dcterms:W3CDTF">2026-09-26T05:33:24Z</dcterms:modified>
</cp:coreProperties>
</file>
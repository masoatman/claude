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Fund return vs S&amp;P 500 price return over the year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 price return</c:v>
                </c:pt>
              </c:strCache>
            </c:strRef>
          </c:tx>
          <c:spPr>
            <a:solidFill>
              <a:srgbClr val="8A97A5"/>
            </a:solidFill>
            <a:ln w="31750" cap="flat">
              <a:solidFill>
                <a:srgbClr val="8A97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7A5"/>
              </a:solidFill>
              <a:ln w="9525" cap="flat">
                <a:solidFill>
                  <a:srgbClr val="8A97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-40%</c:v>
                  </c:pt>
                  <c:pt idx="1">
                    <c:v>-35%</c:v>
                  </c:pt>
                  <c:pt idx="2">
                    <c:v>-30%</c:v>
                  </c:pt>
                  <c:pt idx="3">
                    <c:v>-25%</c:v>
                  </c:pt>
                  <c:pt idx="4">
                    <c:v>-20%</c:v>
                  </c:pt>
                  <c:pt idx="5">
                    <c:v>-15%</c:v>
                  </c:pt>
                  <c:pt idx="6">
                    <c:v>-10%</c:v>
                  </c:pt>
                  <c:pt idx="7">
                    <c:v>-5%</c:v>
                  </c:pt>
                  <c:pt idx="8">
                    <c:v>0%</c:v>
                  </c:pt>
                  <c:pt idx="9">
                    <c:v>+5%</c:v>
                  </c:pt>
                  <c:pt idx="10">
                    <c:v>+10%</c:v>
                  </c:pt>
                  <c:pt idx="11">
                    <c:v>+15%</c:v>
                  </c:pt>
                  <c:pt idx="12">
                    <c:v>+20%</c:v>
                  </c:pt>
                  <c:pt idx="13">
                    <c:v>+25%</c:v>
                  </c:pt>
                  <c:pt idx="14">
                    <c:v>+30%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-40</c:v>
                </c:pt>
                <c:pt idx="1">
                  <c:v>-35</c:v>
                </c:pt>
                <c:pt idx="2">
                  <c:v>-30</c:v>
                </c:pt>
                <c:pt idx="3">
                  <c:v>-25</c:v>
                </c:pt>
                <c:pt idx="4">
                  <c:v>-20</c:v>
                </c:pt>
                <c:pt idx="5">
                  <c:v>-15</c:v>
                </c:pt>
                <c:pt idx="6">
                  <c:v>-10</c:v>
                </c:pt>
                <c:pt idx="7">
                  <c:v>-5</c:v>
                </c:pt>
                <c:pt idx="8">
                  <c:v>0</c:v>
                </c:pt>
                <c:pt idx="9">
                  <c:v>5</c:v>
                </c:pt>
                <c:pt idx="10">
                  <c:v>10</c:v>
                </c:pt>
                <c:pt idx="11">
                  <c:v>15</c:v>
                </c:pt>
                <c:pt idx="12">
                  <c:v>20</c:v>
                </c:pt>
                <c:pt idx="13">
                  <c:v>25</c:v>
                </c:pt>
                <c:pt idx="14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STEN (net of fee)</c:v>
                </c:pt>
              </c:strCache>
            </c:strRef>
          </c:tx>
          <c:spPr>
            <a:solidFill>
              <a:srgbClr val="0B1F33"/>
            </a:solidFill>
            <a:ln w="31750" cap="flat">
              <a:solidFill>
                <a:srgbClr val="0B1F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F33"/>
              </a:solidFill>
              <a:ln w="9525" cap="flat">
                <a:solidFill>
                  <a:srgbClr val="0B1F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-40%</c:v>
                  </c:pt>
                  <c:pt idx="1">
                    <c:v>-35%</c:v>
                  </c:pt>
                  <c:pt idx="2">
                    <c:v>-30%</c:v>
                  </c:pt>
                  <c:pt idx="3">
                    <c:v>-25%</c:v>
                  </c:pt>
                  <c:pt idx="4">
                    <c:v>-20%</c:v>
                  </c:pt>
                  <c:pt idx="5">
                    <c:v>-15%</c:v>
                  </c:pt>
                  <c:pt idx="6">
                    <c:v>-10%</c:v>
                  </c:pt>
                  <c:pt idx="7">
                    <c:v>-5%</c:v>
                  </c:pt>
                  <c:pt idx="8">
                    <c:v>0%</c:v>
                  </c:pt>
                  <c:pt idx="9">
                    <c:v>+5%</c:v>
                  </c:pt>
                  <c:pt idx="10">
                    <c:v>+10%</c:v>
                  </c:pt>
                  <c:pt idx="11">
                    <c:v>+15%</c:v>
                  </c:pt>
                  <c:pt idx="12">
                    <c:v>+20%</c:v>
                  </c:pt>
                  <c:pt idx="13">
                    <c:v>+25%</c:v>
                  </c:pt>
                  <c:pt idx="14">
                    <c:v>+30%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-30.5</c:v>
                </c:pt>
                <c:pt idx="1">
                  <c:v>-25.5</c:v>
                </c:pt>
                <c:pt idx="2">
                  <c:v>-20.5</c:v>
                </c:pt>
                <c:pt idx="3">
                  <c:v>-15.5</c:v>
                </c:pt>
                <c:pt idx="4">
                  <c:v>-10.5</c:v>
                </c:pt>
                <c:pt idx="5">
                  <c:v>-5.5</c:v>
                </c:pt>
                <c:pt idx="6">
                  <c:v>-0.5</c:v>
                </c:pt>
                <c:pt idx="7">
                  <c:v>-0.5</c:v>
                </c:pt>
                <c:pt idx="8">
                  <c:v>-0.5</c:v>
                </c:pt>
                <c:pt idx="9">
                  <c:v>4.5</c:v>
                </c:pt>
                <c:pt idx="10">
                  <c:v>9.5</c:v>
                </c:pt>
                <c:pt idx="11">
                  <c:v>14.5</c:v>
                </c:pt>
                <c:pt idx="12">
                  <c:v>17.13</c:v>
                </c:pt>
                <c:pt idx="13">
                  <c:v>17.13</c:v>
                </c:pt>
                <c:pt idx="14">
                  <c:v>17.13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SMAX (net of fee)</c:v>
                </c:pt>
              </c:strCache>
            </c:strRef>
          </c:tx>
          <c:spPr>
            <a:solidFill>
              <a:srgbClr val="0E8C8C"/>
            </a:solidFill>
            <a:ln w="31750" cap="flat">
              <a:solidFill>
                <a:srgbClr val="0E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8C8C"/>
              </a:solidFill>
              <a:ln w="9525" cap="flat">
                <a:solidFill>
                  <a:srgbClr val="0E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-40%</c:v>
                  </c:pt>
                  <c:pt idx="1">
                    <c:v>-35%</c:v>
                  </c:pt>
                  <c:pt idx="2">
                    <c:v>-30%</c:v>
                  </c:pt>
                  <c:pt idx="3">
                    <c:v>-25%</c:v>
                  </c:pt>
                  <c:pt idx="4">
                    <c:v>-20%</c:v>
                  </c:pt>
                  <c:pt idx="5">
                    <c:v>-15%</c:v>
                  </c:pt>
                  <c:pt idx="6">
                    <c:v>-10%</c:v>
                  </c:pt>
                  <c:pt idx="7">
                    <c:v>-5%</c:v>
                  </c:pt>
                  <c:pt idx="8">
                    <c:v>0%</c:v>
                  </c:pt>
                  <c:pt idx="9">
                    <c:v>+5%</c:v>
                  </c:pt>
                  <c:pt idx="10">
                    <c:v>+10%</c:v>
                  </c:pt>
                  <c:pt idx="11">
                    <c:v>+15%</c:v>
                  </c:pt>
                  <c:pt idx="12">
                    <c:v>+20%</c:v>
                  </c:pt>
                  <c:pt idx="13">
                    <c:v>+25%</c:v>
                  </c:pt>
                  <c:pt idx="14">
                    <c:v>+30%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-0.5</c:v>
                </c:pt>
                <c:pt idx="1">
                  <c:v>-0.5</c:v>
                </c:pt>
                <c:pt idx="2">
                  <c:v>-0.5</c:v>
                </c:pt>
                <c:pt idx="3">
                  <c:v>-0.5</c:v>
                </c:pt>
                <c:pt idx="4">
                  <c:v>-0.5</c:v>
                </c:pt>
                <c:pt idx="5">
                  <c:v>-0.5</c:v>
                </c:pt>
                <c:pt idx="6">
                  <c:v>-0.5</c:v>
                </c:pt>
                <c:pt idx="7">
                  <c:v>-0.5</c:v>
                </c:pt>
                <c:pt idx="8">
                  <c:v>-0.5</c:v>
                </c:pt>
                <c:pt idx="9">
                  <c:v>4.5</c:v>
                </c:pt>
                <c:pt idx="10">
                  <c:v>7.3</c:v>
                </c:pt>
                <c:pt idx="11">
                  <c:v>7.3</c:v>
                </c:pt>
                <c:pt idx="12">
                  <c:v>7.3</c:v>
                </c:pt>
                <c:pt idx="13">
                  <c:v>7.3</c:v>
                </c:pt>
                <c:pt idx="14">
                  <c:v>7.3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E6B78"/>
                    </a:solidFill>
                    <a:latin typeface="Arial"/>
                  </a:rPr>
                  <a:t>S&amp;P 500 price return over the outcome period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4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Price return if sold at that point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8A97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3: −20%,
vol up, rates down</c:v>
                  </c:pt>
                  <c:pt idx="1">
                    <c:v>Month 6: −30%,
crash conditions</c:v>
                  </c:pt>
                  <c:pt idx="2">
                    <c:v>Month 6: −20%,
rates +1.5pt (2022)</c:v>
                  </c:pt>
                  <c:pt idx="3">
                    <c:v>Month 6: +10%,
calm market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-20</c:v>
                </c:pt>
                <c:pt idx="1">
                  <c:v>-30</c:v>
                </c:pt>
                <c:pt idx="2">
                  <c:v>-20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STEN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3: −20%,
vol up, rates down</c:v>
                  </c:pt>
                  <c:pt idx="1">
                    <c:v>Month 6: −30%,
crash conditions</c:v>
                  </c:pt>
                  <c:pt idx="2">
                    <c:v>Month 6: −20%,
rates +1.5pt (2022)</c:v>
                  </c:pt>
                  <c:pt idx="3">
                    <c:v>Month 6: +10%,
calm market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-14.1</c:v>
                </c:pt>
                <c:pt idx="1">
                  <c:v>-21.7</c:v>
                </c:pt>
                <c:pt idx="2">
                  <c:v>-13.1</c:v>
                </c:pt>
                <c:pt idx="3">
                  <c:v>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SMAX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3: −20%,
vol up, rates down</c:v>
                  </c:pt>
                  <c:pt idx="1">
                    <c:v>Month 6: −30%,
crash conditions</c:v>
                  </c:pt>
                  <c:pt idx="2">
                    <c:v>Month 6: −20%,
rates +1.5pt (2022)</c:v>
                  </c:pt>
                  <c:pt idx="3">
                    <c:v>Month 6: +10%,
calm market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-2.3</c:v>
                </c:pt>
                <c:pt idx="1">
                  <c:v>-1.8</c:v>
                </c:pt>
                <c:pt idx="2">
                  <c:v>-3.2</c:v>
                </c:pt>
                <c:pt idx="3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35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Liquid defensive assets (% of portfolio)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the trough</c:v>
                </c:pt>
              </c:strCache>
            </c:strRef>
          </c:tx>
          <c:spPr>
            <a:solidFill>
              <a:srgbClr val="9ED3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 60/40</c:v>
                  </c:pt>
                  <c:pt idx="1">
                    <c:v>+15% semi-liquid alts</c:v>
                  </c:pt>
                  <c:pt idx="2">
                    <c:v>+25% semi-liquid alts</c:v>
                  </c:pt>
                  <c:pt idx="3">
                    <c:v>Buffer sleeve
(SMAX 10, STEN 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49.6</c:v>
                </c:pt>
                <c:pt idx="1">
                  <c:v>31.4</c:v>
                </c:pt>
                <c:pt idx="2">
                  <c:v>19.1</c:v>
                </c:pt>
                <c:pt idx="3">
                  <c:v>48.8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withdrawal + rebalance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 60/40</c:v>
                  </c:pt>
                  <c:pt idx="1">
                    <c:v>+15% semi-liquid alts</c:v>
                  </c:pt>
                  <c:pt idx="2">
                    <c:v>+25% semi-liquid alts</c:v>
                  </c:pt>
                  <c:pt idx="3">
                    <c:v>Buffer sleeve
(SMAX 10, STEN 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20.1</c:v>
                </c:pt>
                <c:pt idx="2">
                  <c:v>6.5</c:v>
                </c:pt>
                <c:pt idx="3">
                  <c:v>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Alt weight (% of portfolio)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weight</c:v>
                </c:pt>
              </c:strCache>
            </c:strRef>
          </c:tx>
          <c:spPr>
            <a:solidFill>
              <a:srgbClr val="9FB2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15% alts</c:v>
                  </c:pt>
                  <c:pt idx="1">
                    <c:v>25% alts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crash + withdrawal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15% alts</c:v>
                  </c:pt>
                  <c:pt idx="1">
                    <c:v>25% alts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19.9</c:v>
                </c:pt>
                <c:pt idx="1">
                  <c:v>33.5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011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ETFs &amp; alts: liquidity in a downturn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00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STEN and SMAX behave, and what adding alternatives does to your ability to raise cash when equities fall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strategy review  |  September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analysis. Not produced by or affiliated with BlackRock or iShares. Not investment advice.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Alts rarely hurt through losses. They hurt by being unsellable when you need cash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reserve left in a 60/40 with 25% semi-liquid alts, after a 30% crash, a 10% withdrawal and one rebalance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40%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portfolio with no alts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941" y="194950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works as a liquidity reserve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1671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100% downside buffer; worth roughly −2% to −3% if sold during a 20–30% selloff. It trades daily.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06240" y="292608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3046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37760" y="2880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 is still equity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32644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the first 10% only. It is worth about −22% if sold mid-period in a 30% crash. Use it to replace IVV, not bonds.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206240" y="402336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41440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37760" y="3977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Semi-liquid alts shrink your reserve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937760" y="43616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Q2 2026, investors asked to redeem 12.4% of NAV and only 38% was paid. Every point moved out of bonds is a point you can't sell.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206240" y="512064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52413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937760" y="5074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the Oct 1 reset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4937760" y="545896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funds reset this week. Higher T-bill yields point to a higher SMAX cap (model: about 9% before fees).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iShares fund pages and SEC filings; Robert A. Stanger &amp; Co. via Ferrante Capital; model in buffer_liquidity_model.py.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funds, two different jobs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hold IVV plus options and reset every October 1. The protection only applies if held for the full year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Large Cap Max Buffer Sep ETF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buffer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100% of S&amp;P losses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period ending Sep 30, 2026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7.80% gross · 7.30% net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7947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case, held to end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343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−0.5% (the fee)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1-year Treasury plus capped S&amp;P upside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40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 the portfolio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reserve / partial bond substitute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STEN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Large Cap 10% Target Buffer Sep ETF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buffer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10% of S&amp;P losses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period ending Sep 30, 2026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17.63% gross · 17.13% net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37947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case, held to end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4343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loss minus 10% (−30% → about −20%)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exposure with a smaller loss in a mild fall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40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 the portfolio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Lower-drawdown equity substitute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 IVV's price return only: most dividends (~1.2%/yr) fund the options. SMAX distribution yield 0.76% (Jun 2026). Sources: iShares; SEC Form 497 (2025).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Payoff if held for the full outcome period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trades almost all upside for near-certainty; STEN keeps more upside but still takes big losses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1248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412480" y="2286000"/>
            <a:ext cx="3246120" cy="822960"/>
          </a:xfrm>
          <a:prstGeom prst="roundRect">
            <a:avLst>
              <a:gd name="adj" fmla="val 1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−30%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−0.5%  ·  STEN −20.5%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0" y="3246120"/>
            <a:ext cx="3246120" cy="822960"/>
          </a:xfrm>
          <a:prstGeom prst="roundRect">
            <a:avLst>
              <a:gd name="adj" fmla="val 1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3319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−8%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−0.5%  ·  STEN −0.5%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4206240"/>
            <a:ext cx="3246120" cy="822960"/>
          </a:xfrm>
          <a:prstGeom prst="roundRect">
            <a:avLst>
              <a:gd name="adj" fmla="val 1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4279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+25%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+7.3%  ·  STEN +17.1%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shown are for the period ending Sep 30, 2026. New caps are set at the Oct 1 reset.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payoff before dividends, net of the 0.50% fee. Source: fund terms per iShares.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if you must sell mid-period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matters for liquidity: you realise today's value, not the end-of-period protection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6809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8308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562" y="189372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 holds value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144000" y="216712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put is deep in the money, so it barely moves in a selloff. It is mainly sensitive to interest rates.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503920" y="32461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62" y="335676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44000" y="3246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 falls about 2/3 as much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14400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 buffer only fully applies at expiry. Mid-period, time value blunts it.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503920" y="470916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562" y="481980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44000" y="4709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the reset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144000" y="509320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mid-period gives a different buffer and cap from the headline figures.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Black-Scholes with a simple volatility skew, calibrated to the Oct 2025 caps; after pro-rata fee. Estimates, not quotes.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October 1 reset: timing and new caps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higher than a year ago, which should lift SMAX's cap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 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 period ends (Wednesday)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4.51%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T-bill yield, Sep 25, 2026 (about 3.8% at the last reset)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160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estimate of SMAX's new cap before fees (was 7.80%)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397764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4160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STEN's new cap direction. Very sensitive to volatility: wait for the published figure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709160" cy="4251960"/>
          </a:xfrm>
          <a:prstGeom prst="roundRect">
            <a:avLst>
              <a:gd name="adj" fmla="val 258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rates drive SMAX's cap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514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buffer is economically close to a 1-year zero-coupon bond plus a call spread on the S&amp;P.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higher the 1-year yield, the more upside the fund can buy, so the cap rises.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matters much less for SMAX. For STEN it dominates, because STEN is mostly equity.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check the new caps on ishares.com on Oct 1 and buy at or close to the reset.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Forbes Treasury rates (Sep 25, 2026); BlackRock 'Higher volatility, higher caps'. Cap estimates from buffer_liquidity_model.py.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test: the liquid reserve after a crash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equity crash, then a 10% withdrawal, then a rebalance back to 60% equity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F6DEDB"/>
          </a:solidFill>
          <a:ln w="12700">
            <a:solidFill>
              <a:srgbClr val="F6DE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74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697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at 25% alts. One more bad quarter and you're selling equities at the 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4023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with the buffer sleeve instead: SMAX counts as liquid.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defensive = AGG, TIP, SGOV, IAU, SMAX. Alts funded from AGG (and TIP at 25%), marked with a lag (−4%). Illustrative portfolio from slide 11 of the iShares deck.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trap: alts grow as everything else shrinks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marks and quarterly exits mean the alt weight rises just when you need to sell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73736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what 'semi-liquid' looked like in practice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035040" y="2286000"/>
            <a:ext cx="5623560" cy="109728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$20.8B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2860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from the largest semi-liquid private credit funds in Q1 2026; managers met barely half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3566160"/>
            <a:ext cx="5623560" cy="109728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5661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NAV requested in Q2 2026, the highest on record; only 38% was fulfilled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4846320"/>
            <a:ext cx="5623560" cy="109728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4846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5%/qtr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8463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tender cap. Interval funds must honour it; non-traded BDCs can gate entirely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Bloomberg (Mar 26, 2026); Robert A. Stanger &amp; Co. via Ferrante Capital; ReadTheDrift; CRS IN12674.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bear market, two different reserves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10-year at 5.18% and the Fed leaning to hikes, a 2022-style bear is a live risk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64592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Deflationary crash (2008/2020)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Inflationary bear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as a reserve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reserve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 (core bonds)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in a crash, poor in inflation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SGOV (T-bills)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SMAX (mid-period)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in both; beats AGG in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STEN (mid-period)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Equity, not a reserve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Semi-liquid alts (reported)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stable, can't be sold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return at the trough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921240" y="2560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   2022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2124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−16.6%   −14.9%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alts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−17.8%   −13.7%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alts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921240" y="3840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−18.4%   −13.0%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921240" y="4297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−16.3%   −13.5%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2022, alts look better only because their marks lag the market. That is not protection.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returns are stress assumptions at a month-6 trough; SMAX/STEN from the option model. Source for rates: Forbes (Sep 25, 2026).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liquidity waterfall: what to sell, in 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withdrawals and rebalancing from the top down; never count on the bottom tier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49808"/>
          </a:xfrm>
          <a:prstGeom prst="roundRect">
            <a:avLst>
              <a:gd name="adj" fmla="val 121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92224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916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T-bills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6916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SGOV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6916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day, stable value in any regime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10789920" cy="749808"/>
          </a:xfrm>
          <a:prstGeom prst="roundRect">
            <a:avLst>
              <a:gd name="adj" fmla="val 121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688336"/>
            <a:ext cx="548640" cy="548640"/>
          </a:xfrm>
          <a:prstGeom prst="ellipse">
            <a:avLst/>
          </a:prstGeom>
          <a:solidFill>
            <a:srgbClr val="3AA6A6"/>
          </a:solidFill>
          <a:ln w="12700">
            <a:solidFill>
              <a:srgbClr val="3A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58775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buffer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58775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8775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day, small mark-down in a selloff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483864"/>
            <a:ext cx="10469880" cy="749808"/>
          </a:xfrm>
          <a:prstGeom prst="roundRect">
            <a:avLst>
              <a:gd name="adj" fmla="val 121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584448"/>
            <a:ext cx="548640" cy="5486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4838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bonds &amp; real assets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48386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· TIP · IAU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48386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day; value depends on the regime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4379976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4480560"/>
            <a:ext cx="548640" cy="548640"/>
          </a:xfrm>
          <a:prstGeom prst="ellipse">
            <a:avLst/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437997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&amp; 10% buffer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437997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IVV · IEFA · IEMG · STEN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437997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day, but selling means locking in losses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0" y="5276088"/>
            <a:ext cx="9829800" cy="749808"/>
          </a:xfrm>
          <a:prstGeom prst="roundRect">
            <a:avLst>
              <a:gd name="adj" fmla="val 12195"/>
            </a:avLst>
          </a:prstGeom>
          <a:solidFill>
            <a:srgbClr val="F6DEDB"/>
          </a:solidFill>
          <a:ln w="12700">
            <a:solidFill>
              <a:srgbClr val="F6DE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5376672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596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527608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Semi-liquid alts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2760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credit · BDCs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52760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Quarterly, pro-rated or gated. Treat as unavailable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are examples from the illustrative portfolio.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alts by the liquidity you must keep, not by the return you hope to add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liquidity floor first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86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30% crash and a year of withdrawals, keep at least 20% in liquid defensive assets. That caps semi-liquid alts at about 10–15%, funded from AGG.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count alts as liquidity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749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in this order: SGOV → SMAX → AGG/TIP → equities. Assume alts are unavailable for about three years.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SMAX to split the bond sleeve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212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 10% SMAX + 15% AGG. SMAX covers the 2022-style case; AGG still gains in a deflationary crash.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STEN against equities, not bonds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286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part of IVV for STEN if you want smaller losses in a moderate fall. It is not dry powder.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474720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alts for money you may need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749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Daily-dealing alts (liquid-alt ETFs or funds, gold such as IAU) for the accessible part; quarterly vehicles only for 3+ year money.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on the illustrative portfolio, not personal advice.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sources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949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product pages and fact sheets: SMAX, STEN (caps, fees, structure)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 iShares Trust Form 497 (2025), STEN outcome-period cap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BlackRock: 'Expanding your options for downside protection'; 'Higher volatility, higher caps'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Bloomberg: 'Redemption Requests Surge, Leaving Billions Locked in Private Credit Funds' (Mar 26, 2026)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Ferrante Capital / Robert A. Stanger &amp; Co.: Q2 2026 repurchase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WealthManagement.com; ReadTheDrift; Congressional Research Service IN12674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Treasury rates (Sep 25, 2026); Bondsavvy, Sep 2026 Fed dot plot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94760" cy="4663440"/>
          </a:xfrm>
          <a:prstGeom prst="roundRect">
            <a:avLst>
              <a:gd name="adj" fmla="val 28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54480"/>
            <a:ext cx="3383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values: Black-Scholes, 1.2% dividend yield, simple volatility skew, calibrated to the Oct 2025 caps. Directional, not quotes.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illustrative 60/40 from the iShares deck; alts marked with a lag; 38% pro-rata fill.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ishares-research/buffer_liquidity_model.py. Not investment advice.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 ETFs and Alts Liquidity</dc:title>
  <dc:subject>PptxGenJS Presentation</dc:subject>
  <dc:creator>PptxGenJS</dc:creator>
  <cp:lastModifiedBy>PptxGenJS</cp:lastModifiedBy>
  <cp:revision>1</cp:revision>
  <dcterms:created xsi:type="dcterms:W3CDTF">2026-09-27T17:46:35Z</dcterms:created>
  <dcterms:modified xsi:type="dcterms:W3CDTF">2026-09-27T17:46:35Z</dcterms:modified>
</cp:coreProperties>
</file>